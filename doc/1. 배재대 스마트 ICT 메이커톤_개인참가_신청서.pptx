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9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3A091C4-078D-4D9B-87A9-AD84550EBD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w="sm" len="sm"/>
              <a:tailEnd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14" d="100"/>
          <a:sy n="114" d="100"/>
        </p:scale>
        <p:origin x="1136" y="64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b71d7f9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g3fb71d7f98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3fb71d7f98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09e3c99646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409e3c99646_3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409e3c99646_3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e3c99646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409e3c99646_3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409e3c99646_3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freshmea@naver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FEF7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17" name="Google Shape;17;p3"/>
          <p:cNvSpPr/>
          <p:nvPr/>
        </p:nvSpPr>
        <p:spPr>
          <a:xfrm rot="5400000">
            <a:off x="4477050" y="-3400648"/>
            <a:ext cx="189900" cy="9149700"/>
          </a:xfrm>
          <a:prstGeom prst="rect">
            <a:avLst/>
          </a:prstGeom>
          <a:solidFill>
            <a:srgbClr val="2D61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261350"/>
            <a:ext cx="9144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800"/>
              <a:buFont typeface="Malgun Gothic"/>
              <a:buNone/>
            </a:pPr>
            <a:r>
              <a:rPr lang="en-US" sz="3600" b="1">
                <a:solidFill>
                  <a:srgbClr val="3264A5"/>
                </a:solidFill>
              </a:rPr>
              <a:t>배재대 스마트 ICT 메이커톤</a:t>
            </a:r>
            <a:endParaRPr sz="3600" b="1">
              <a:solidFill>
                <a:srgbClr val="3264A5"/>
              </a:solidFill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98292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Malgun Gothic"/>
              <a:buNone/>
            </a:pPr>
            <a:r>
              <a:rPr lang="en-US" sz="1400" i="0" u="none" strike="noStrike" cap="none">
                <a:solidFill>
                  <a:schemeClr val="dk1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참가 신청서</a:t>
            </a:r>
            <a:endParaRPr sz="1400" i="0" u="none" strike="noStrike" cap="none">
              <a:solidFill>
                <a:schemeClr val="dk1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3200" y="2331612"/>
            <a:ext cx="3657600" cy="22200"/>
          </a:xfrm>
          <a:prstGeom prst="rect">
            <a:avLst/>
          </a:prstGeom>
          <a:solidFill>
            <a:srgbClr val="2D61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286000" y="3134035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E3D"/>
              </a:buClr>
              <a:buSzPts val="1200"/>
              <a:buFont typeface="Malgun Gothic"/>
              <a:buNone/>
            </a:pPr>
            <a:r>
              <a:rPr lang="en-US" sz="1200" i="0" u="none" strike="noStrike" cap="none">
                <a:solidFill>
                  <a:srgbClr val="0A1E3D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제출일</a:t>
            </a:r>
            <a:endParaRPr sz="1200" i="0" u="none" strike="noStrike" cap="none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383280" y="3134035"/>
            <a:ext cx="3291900" cy="274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C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sta Sans Medium"/>
                <a:ea typeface="Asta Sans Medium"/>
                <a:cs typeface="Asta Sans Medium"/>
                <a:sym typeface="Asta Sans Medium"/>
              </a:rPr>
              <a:t>2026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년 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9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월 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29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일</a:t>
            </a:r>
            <a:endParaRPr dirty="0"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493008" y="3152323"/>
            <a:ext cx="30723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CCDA"/>
              </a:buClr>
              <a:buSzPts val="950"/>
              <a:buFont typeface="Malgun Gothic"/>
              <a:buNone/>
            </a:pPr>
            <a:r>
              <a:rPr lang="en-US" sz="950" i="1" u="none" strike="noStrike" cap="none">
                <a:solidFill>
                  <a:srgbClr val="C0CCDA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2026년     월     일</a:t>
            </a:r>
            <a:endParaRPr sz="950" i="0" u="none" strike="noStrike" cap="none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3904926"/>
            <a:ext cx="7315200" cy="548400"/>
          </a:xfrm>
          <a:prstGeom prst="rect">
            <a:avLst/>
          </a:prstGeom>
          <a:solidFill>
            <a:srgbClr val="FEF7ED"/>
          </a:solidFill>
          <a:ln w="12700" cap="flat" cmpd="sng">
            <a:solidFill>
              <a:srgbClr val="3264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51550" y="3928390"/>
            <a:ext cx="7041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Malgun Gothic"/>
              <a:buNone/>
            </a:pPr>
            <a:r>
              <a:rPr lang="en-US" sz="950" i="0" u="none" strike="noStrike" cap="none">
                <a:solidFill>
                  <a:schemeClr val="dk1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본 문서는</a:t>
            </a:r>
            <a:r>
              <a:rPr lang="en-US" sz="950" i="0" u="none" strike="noStrike" cap="none">
                <a:solidFill>
                  <a:srgbClr val="3264A5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 </a:t>
            </a:r>
            <a:r>
              <a:rPr lang="en-US" sz="950">
                <a:solidFill>
                  <a:srgbClr val="3264A5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배재대 스마트 ICT 메이커톤</a:t>
            </a:r>
            <a:r>
              <a:rPr lang="en-US" sz="950" i="0" u="none" strike="noStrike" cap="none">
                <a:solidFill>
                  <a:schemeClr val="dk1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 참가 신청서입니다.</a:t>
            </a:r>
            <a:endParaRPr sz="950">
              <a:solidFill>
                <a:schemeClr val="dk1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Malgun Gothic"/>
              <a:buNone/>
            </a:pPr>
            <a:r>
              <a:rPr lang="en-US" sz="950">
                <a:solidFill>
                  <a:schemeClr val="dk1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해당 양식을 토대로 작성해주세요. 디자인 변경은 자유이나 변경하지 않으셔도 무방합니다.</a:t>
            </a:r>
            <a:endParaRPr sz="950" b="1">
              <a:solidFill>
                <a:schemeClr val="dk1"/>
              </a:solidFill>
              <a:latin typeface="Asta Sans"/>
              <a:ea typeface="Asta Sans"/>
              <a:cs typeface="Asta Sans"/>
              <a:sym typeface="Asta Sans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0" y="4864608"/>
            <a:ext cx="9144000" cy="274200"/>
            <a:chOff x="0" y="4864608"/>
            <a:chExt cx="9144000" cy="274200"/>
          </a:xfrm>
        </p:grpSpPr>
        <p:sp>
          <p:nvSpPr>
            <p:cNvPr id="27" name="Google Shape;27;p3"/>
            <p:cNvSpPr/>
            <p:nvPr/>
          </p:nvSpPr>
          <p:spPr>
            <a:xfrm>
              <a:off x="0" y="4864608"/>
              <a:ext cx="9144000" cy="274200"/>
            </a:xfrm>
            <a:prstGeom prst="rect">
              <a:avLst/>
            </a:prstGeom>
            <a:solidFill>
              <a:srgbClr val="E8EEF4"/>
            </a:solidFill>
            <a:ln w="12700" cap="flat" cmpd="sng">
              <a:solidFill>
                <a:srgbClr val="E8EE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74320" y="4864608"/>
              <a:ext cx="731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 스마트 ICT 메이커톤</a:t>
              </a:r>
              <a:r>
                <a:rPr lang="en-US" sz="800" i="0" u="none" strike="noStrike" cap="none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 | </a:t>
              </a: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배재대학교 스마트ICT융합인재양성센터</a:t>
              </a:r>
              <a:endParaRPr sz="800" i="0" u="none" strike="noStrike" cap="none">
                <a:solidFill>
                  <a:srgbClr val="000000"/>
                </a:solidFill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</p:grpSp>
      <p:sp>
        <p:nvSpPr>
          <p:cNvPr id="29" name="Google Shape;29;p3"/>
          <p:cNvSpPr/>
          <p:nvPr/>
        </p:nvSpPr>
        <p:spPr>
          <a:xfrm>
            <a:off x="2286000" y="2644773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E3D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0A1E3D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신청 구분</a:t>
            </a:r>
            <a:endParaRPr sz="1200" i="0" u="none" strike="noStrike" cap="none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3409950" y="2638850"/>
            <a:ext cx="3314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sz="1200" dirty="0"/>
              <a:t>☐</a:t>
            </a:r>
            <a:r>
              <a:rPr lang="en-US" altLang="ko-KR" sz="1200" dirty="0">
                <a:sym typeface="Wingdings 2" panose="05020102010507070707" pitchFamily="18" charset="2"/>
              </a:rPr>
              <a:t> </a:t>
            </a:r>
            <a:r>
              <a:rPr lang="en-US" sz="1200" dirty="0"/>
              <a:t>팀 </a:t>
            </a:r>
            <a:r>
              <a:rPr lang="en-US" sz="1200" dirty="0" err="1"/>
              <a:t>신청</a:t>
            </a:r>
            <a:r>
              <a:rPr lang="en-US" sz="1200" dirty="0"/>
              <a:t>     </a:t>
            </a:r>
            <a:r>
              <a:rPr lang="en-US" altLang="ko-KR" sz="1200" dirty="0">
                <a:sym typeface="Wingdings 2" panose="05020102010507070707" pitchFamily="18" charset="2"/>
              </a:rPr>
              <a:t></a:t>
            </a:r>
            <a:r>
              <a:rPr lang="en-US" sz="1200" dirty="0"/>
              <a:t> </a:t>
            </a:r>
            <a:r>
              <a:rPr lang="en-US" sz="1200" dirty="0" err="1"/>
              <a:t>개인</a:t>
            </a:r>
            <a:r>
              <a:rPr lang="en-US" sz="1200" dirty="0"/>
              <a:t> </a:t>
            </a:r>
            <a:r>
              <a:rPr lang="en-US" sz="1200" dirty="0" err="1"/>
              <a:t>신청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4864608"/>
            <a:ext cx="9144000" cy="274200"/>
            <a:chOff x="0" y="4864608"/>
            <a:chExt cx="9144000" cy="274200"/>
          </a:xfrm>
        </p:grpSpPr>
        <p:sp>
          <p:nvSpPr>
            <p:cNvPr id="51" name="Google Shape;51;p5"/>
            <p:cNvSpPr/>
            <p:nvPr/>
          </p:nvSpPr>
          <p:spPr>
            <a:xfrm>
              <a:off x="0" y="4864608"/>
              <a:ext cx="9144000" cy="274200"/>
            </a:xfrm>
            <a:prstGeom prst="rect">
              <a:avLst/>
            </a:prstGeom>
            <a:solidFill>
              <a:srgbClr val="E8EEF4"/>
            </a:solidFill>
            <a:ln w="12700" cap="flat" cmpd="sng">
              <a:solidFill>
                <a:srgbClr val="E8EE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274320" y="4864608"/>
              <a:ext cx="731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 스마트 ICT 메이커톤</a:t>
              </a:r>
              <a:r>
                <a:rPr lang="en-US" sz="800" i="0" u="none" strike="noStrike" cap="none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 | </a:t>
              </a: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배재대학교 스마트ICT융합인재양성센터</a:t>
              </a:r>
              <a:endParaRPr sz="800" i="0" u="none" strike="noStrike" cap="none">
                <a:solidFill>
                  <a:srgbClr val="000000"/>
                </a:solidFill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</p:grpSp>
      <p:graphicFrame>
        <p:nvGraphicFramePr>
          <p:cNvPr id="53" name="Google Shape;53;p5"/>
          <p:cNvGraphicFramePr/>
          <p:nvPr>
            <p:extLst>
              <p:ext uri="{D42A27DB-BD31-4B8C-83A1-F6EECF244321}">
                <p14:modId xmlns:p14="http://schemas.microsoft.com/office/powerpoint/2010/main" val="2694764517"/>
              </p:ext>
            </p:extLst>
          </p:nvPr>
        </p:nvGraphicFramePr>
        <p:xfrm>
          <a:off x="365760" y="991895"/>
          <a:ext cx="8326400" cy="3102750"/>
        </p:xfrm>
        <a:graphic>
          <a:graphicData uri="http://schemas.openxmlformats.org/drawingml/2006/table">
            <a:tbl>
              <a:tblPr>
                <a:noFill/>
                <a:tableStyleId>{13A091C4-078D-4D9B-87A9-AD84550EBD8B}</a:tableStyleId>
              </a:tblPr>
              <a:tblGrid>
                <a:gridCol w="144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정보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작성 내용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정보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작성 내용</a:t>
                      </a:r>
                      <a:endParaRPr sz="11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성명</a:t>
                      </a:r>
                      <a:endParaRPr sz="11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 err="1"/>
                        <a:t>최수길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/>
                        <a:t>성별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☐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여자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  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sym typeface="Wingdings 2" panose="05020102010507070707" pitchFamily="18" charset="2"/>
                        </a:rPr>
                        <a:t>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남자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나이</a:t>
                      </a:r>
                      <a:endParaRPr sz="11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44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/>
                        <a:t>연락처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/>
                        <a:t>010-4573=-5540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학부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(과)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/>
                        <a:t>스마트 </a:t>
                      </a:r>
                      <a:r>
                        <a:rPr lang="en-US" altLang="ko-KR" sz="1100" dirty="0"/>
                        <a:t>ICT </a:t>
                      </a:r>
                      <a:r>
                        <a:rPr lang="ko-KR" altLang="en-US" sz="1100" dirty="0"/>
                        <a:t>융합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</a:rPr>
                        <a:t>학위구분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dirty="0">
                          <a:solidFill>
                            <a:schemeClr val="tx1"/>
                          </a:solidFill>
                        </a:rPr>
                        <a:t>석사</a:t>
                      </a:r>
                      <a:endParaRPr sz="9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학번</a:t>
                      </a:r>
                      <a:endParaRPr sz="11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dirty="0"/>
                        <a:t>2571621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메일 주소</a:t>
                      </a:r>
                      <a:endParaRPr sz="11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hlinkClick r:id="rId3"/>
                        </a:rPr>
                        <a:t>freshmea@naver.com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/>
                        <a:t>역할구성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☐ H/W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개발자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  <a:sym typeface="Wingdings 2" panose="05020102010507070707" pitchFamily="18" charset="2"/>
                        </a:rPr>
                        <a:t>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S/W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개발자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☐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기획자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 ☐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디자이너</a:t>
                      </a:r>
                      <a:endParaRPr sz="11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4" name="Google Shape;54;p5"/>
          <p:cNvGrpSpPr/>
          <p:nvPr/>
        </p:nvGrpSpPr>
        <p:grpSpPr>
          <a:xfrm>
            <a:off x="0" y="0"/>
            <a:ext cx="9144000" cy="658500"/>
            <a:chOff x="0" y="0"/>
            <a:chExt cx="9144000" cy="658500"/>
          </a:xfrm>
        </p:grpSpPr>
        <p:sp>
          <p:nvSpPr>
            <p:cNvPr id="55" name="Google Shape;55;p5"/>
            <p:cNvSpPr/>
            <p:nvPr/>
          </p:nvSpPr>
          <p:spPr>
            <a:xfrm>
              <a:off x="0" y="0"/>
              <a:ext cx="9144000" cy="658500"/>
            </a:xfrm>
            <a:prstGeom prst="rect">
              <a:avLst/>
            </a:prstGeom>
            <a:solidFill>
              <a:srgbClr val="FE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0" y="0"/>
              <a:ext cx="201300" cy="658500"/>
            </a:xfrm>
            <a:prstGeom prst="rect">
              <a:avLst/>
            </a:prstGeom>
            <a:solidFill>
              <a:srgbClr val="326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347472" y="0"/>
              <a:ext cx="64008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algun Gothic"/>
                <a:buNone/>
              </a:pPr>
              <a:r>
                <a:rPr lang="en-US" sz="1800" b="1">
                  <a:solidFill>
                    <a:srgbClr val="3264A5"/>
                  </a:solidFill>
                  <a:latin typeface="Asta Sans"/>
                  <a:ea typeface="Asta Sans"/>
                  <a:cs typeface="Asta Sans"/>
                  <a:sym typeface="Asta Sans"/>
                </a:rPr>
                <a:t>참가 신청 - 개인 신청</a:t>
              </a:r>
              <a:endParaRPr sz="1800" b="1" i="0" u="none" strike="noStrike" cap="none">
                <a:solidFill>
                  <a:srgbClr val="3264A5"/>
                </a:solidFill>
                <a:latin typeface="Asta Sans"/>
                <a:ea typeface="Asta Sans"/>
                <a:cs typeface="Asta Sans"/>
                <a:sym typeface="Asta Sans"/>
              </a:endParaRPr>
            </a:p>
          </p:txBody>
        </p:sp>
      </p:grpSp>
      <p:sp>
        <p:nvSpPr>
          <p:cNvPr id="58" name="Google Shape;58;p5"/>
          <p:cNvSpPr txBox="1"/>
          <p:nvPr/>
        </p:nvSpPr>
        <p:spPr>
          <a:xfrm>
            <a:off x="365750" y="4428054"/>
            <a:ext cx="85953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* 역할 구성 선택 시, 한 가지 또는 가능한 분야를 모두 선택해주세요.</a:t>
            </a:r>
            <a:endParaRPr sz="85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* 꼭 전공이 아니어도 됩니다! 개발 전공자라도 디자이너로 참여하고 싶다면 디자이너를 선택해주세요.</a:t>
            </a:r>
            <a:endParaRPr sz="85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365760" y="868680"/>
            <a:ext cx="54900" cy="255900"/>
          </a:xfrm>
          <a:prstGeom prst="rect">
            <a:avLst/>
          </a:prstGeom>
          <a:solidFill>
            <a:srgbClr val="3264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75491" y="868675"/>
            <a:ext cx="886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E3D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0A1E3D"/>
                </a:solidFill>
                <a:latin typeface="Asta Sans Medium"/>
                <a:ea typeface="Asta Sans Medium"/>
                <a:cs typeface="Asta Sans Medium"/>
                <a:sym typeface="Asta Sans Medium"/>
              </a:rPr>
              <a:t>팀명</a:t>
            </a:r>
            <a:endParaRPr sz="1100" i="0" u="none" strike="noStrike" cap="none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grpSp>
        <p:nvGrpSpPr>
          <p:cNvPr id="66" name="Google Shape;66;p6"/>
          <p:cNvGrpSpPr/>
          <p:nvPr/>
        </p:nvGrpSpPr>
        <p:grpSpPr>
          <a:xfrm>
            <a:off x="0" y="4864608"/>
            <a:ext cx="9144000" cy="274200"/>
            <a:chOff x="0" y="4864608"/>
            <a:chExt cx="9144000" cy="274200"/>
          </a:xfrm>
        </p:grpSpPr>
        <p:sp>
          <p:nvSpPr>
            <p:cNvPr id="67" name="Google Shape;67;p6"/>
            <p:cNvSpPr/>
            <p:nvPr/>
          </p:nvSpPr>
          <p:spPr>
            <a:xfrm>
              <a:off x="0" y="4864608"/>
              <a:ext cx="9144000" cy="274200"/>
            </a:xfrm>
            <a:prstGeom prst="rect">
              <a:avLst/>
            </a:prstGeom>
            <a:solidFill>
              <a:srgbClr val="E8EEF4"/>
            </a:solidFill>
            <a:ln w="12700" cap="flat" cmpd="sng">
              <a:solidFill>
                <a:srgbClr val="E8EE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274320" y="4864608"/>
              <a:ext cx="731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 스마트 ICT 메이커톤</a:t>
              </a:r>
              <a:r>
                <a:rPr lang="en-US" sz="800" i="0" u="none" strike="noStrike" cap="none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 | </a:t>
              </a: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배재대학교 스마트ICT융합인재양성센터</a:t>
              </a:r>
              <a:endParaRPr sz="800" i="0" u="none" strike="noStrike" cap="none">
                <a:solidFill>
                  <a:srgbClr val="000000"/>
                </a:solidFill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</p:grpSp>
      <p:graphicFrame>
        <p:nvGraphicFramePr>
          <p:cNvPr id="69" name="Google Shape;69;p6"/>
          <p:cNvGraphicFramePr/>
          <p:nvPr>
            <p:extLst>
              <p:ext uri="{D42A27DB-BD31-4B8C-83A1-F6EECF244321}">
                <p14:modId xmlns:p14="http://schemas.microsoft.com/office/powerpoint/2010/main" val="3972191039"/>
              </p:ext>
            </p:extLst>
          </p:nvPr>
        </p:nvGraphicFramePr>
        <p:xfrm>
          <a:off x="365760" y="1329010"/>
          <a:ext cx="8391525" cy="3102795"/>
        </p:xfrm>
        <a:graphic>
          <a:graphicData uri="http://schemas.openxmlformats.org/drawingml/2006/table">
            <a:tbl>
              <a:tblPr>
                <a:noFill/>
                <a:tableStyleId>{13A091C4-078D-4D9B-87A9-AD84550EBD8B}</a:tableStyleId>
              </a:tblPr>
              <a:tblGrid>
                <a:gridCol w="125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팀 정보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팀장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팀원 1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팀원 2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팀원 3</a:t>
                      </a:r>
                      <a:endParaRPr sz="9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64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성명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성별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나이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연락처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메일주소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학부(과)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학위구분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i="1" dirty="0" err="1">
                          <a:solidFill>
                            <a:srgbClr val="B7B7B7"/>
                          </a:solidFill>
                        </a:rPr>
                        <a:t>학사과정</a:t>
                      </a:r>
                      <a:r>
                        <a:rPr lang="en-US" sz="900" i="1" dirty="0">
                          <a:solidFill>
                            <a:srgbClr val="B7B7B7"/>
                          </a:solidFill>
                        </a:rPr>
                        <a:t>/</a:t>
                      </a:r>
                      <a:r>
                        <a:rPr lang="en-US" sz="900" i="1" dirty="0" err="1">
                          <a:solidFill>
                            <a:srgbClr val="B7B7B7"/>
                          </a:solidFill>
                        </a:rPr>
                        <a:t>석사과정</a:t>
                      </a:r>
                      <a:r>
                        <a:rPr lang="en-US" sz="900" i="1" dirty="0">
                          <a:solidFill>
                            <a:srgbClr val="B7B7B7"/>
                          </a:solidFill>
                        </a:rPr>
                        <a:t>/</a:t>
                      </a:r>
                      <a:r>
                        <a:rPr lang="en-US" sz="900" i="1" dirty="0" err="1">
                          <a:solidFill>
                            <a:srgbClr val="B7B7B7"/>
                          </a:solidFill>
                        </a:rPr>
                        <a:t>박사과정</a:t>
                      </a:r>
                      <a:endParaRPr sz="900" i="1" dirty="0">
                        <a:solidFill>
                          <a:srgbClr val="B7B7B7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i="1">
                          <a:solidFill>
                            <a:srgbClr val="B7B7B7"/>
                          </a:solidFill>
                        </a:rPr>
                        <a:t>학사과정/석사과정/박사과정</a:t>
                      </a:r>
                      <a:endParaRPr sz="900" i="1">
                        <a:solidFill>
                          <a:srgbClr val="B7B7B7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i="1" dirty="0" err="1">
                          <a:solidFill>
                            <a:srgbClr val="B7B7B7"/>
                          </a:solidFill>
                        </a:rPr>
                        <a:t>학사과정</a:t>
                      </a:r>
                      <a:r>
                        <a:rPr lang="en-US" sz="900" i="1" dirty="0">
                          <a:solidFill>
                            <a:srgbClr val="B7B7B7"/>
                          </a:solidFill>
                        </a:rPr>
                        <a:t>/</a:t>
                      </a:r>
                      <a:r>
                        <a:rPr lang="en-US" sz="900" i="1" dirty="0" err="1">
                          <a:solidFill>
                            <a:srgbClr val="B7B7B7"/>
                          </a:solidFill>
                        </a:rPr>
                        <a:t>석사과정</a:t>
                      </a:r>
                      <a:r>
                        <a:rPr lang="en-US" sz="900" i="1" dirty="0">
                          <a:solidFill>
                            <a:srgbClr val="B7B7B7"/>
                          </a:solidFill>
                        </a:rPr>
                        <a:t>/</a:t>
                      </a:r>
                      <a:r>
                        <a:rPr lang="en-US" sz="900" i="1" dirty="0" err="1">
                          <a:solidFill>
                            <a:srgbClr val="B7B7B7"/>
                          </a:solidFill>
                        </a:rPr>
                        <a:t>박사과정</a:t>
                      </a:r>
                      <a:endParaRPr sz="900" i="1" dirty="0">
                        <a:solidFill>
                          <a:srgbClr val="B7B7B7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i="1">
                          <a:solidFill>
                            <a:srgbClr val="B7B7B7"/>
                          </a:solidFill>
                        </a:rPr>
                        <a:t>학사과정/석사과정/박사과정</a:t>
                      </a:r>
                      <a:endParaRPr sz="900" i="1">
                        <a:solidFill>
                          <a:srgbClr val="B7B7B7"/>
                        </a:solidFill>
                      </a:endParaRPr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학번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역할구성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☐ H/W 개발자 ☐ S/W 개발자</a:t>
                      </a:r>
                      <a:endParaRPr sz="9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☐ 기획자 ☐ 디자이너</a:t>
                      </a:r>
                      <a:endParaRPr sz="90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☐ H/W 개발자 ☐ S/W 개발자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☐ 기획자 ☐ 디자이너</a:t>
                      </a:r>
                      <a:endParaRPr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☐ H/W 개발자 ☐ S/W 개발자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☐ 기획자 ☐ 디자이너</a:t>
                      </a:r>
                      <a:endParaRPr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☐ H/W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개발자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☐ S/W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개발자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☐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기획자</a:t>
                      </a:r>
                      <a:r>
                        <a:rPr lang="en-US" sz="900" dirty="0">
                          <a:solidFill>
                            <a:schemeClr val="dk1"/>
                          </a:solidFill>
                        </a:rPr>
                        <a:t> ☐ </a:t>
                      </a:r>
                      <a:r>
                        <a:rPr lang="en-US" sz="900" dirty="0" err="1">
                          <a:solidFill>
                            <a:schemeClr val="dk1"/>
                          </a:solidFill>
                        </a:rPr>
                        <a:t>디자이너</a:t>
                      </a:r>
                      <a:endParaRPr dirty="0"/>
                    </a:p>
                  </a:txBody>
                  <a:tcPr marL="91425" marR="91425" marT="36575" marB="36575" anchor="ctr">
                    <a:lnL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8D8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0" name="Google Shape;70;p6"/>
          <p:cNvSpPr txBox="1"/>
          <p:nvPr/>
        </p:nvSpPr>
        <p:spPr>
          <a:xfrm>
            <a:off x="1409700" y="819150"/>
            <a:ext cx="7347600" cy="349200"/>
          </a:xfrm>
          <a:prstGeom prst="rect">
            <a:avLst/>
          </a:prstGeom>
          <a:solidFill>
            <a:srgbClr val="F8FBFD"/>
          </a:solidFill>
          <a:ln w="9525" cap="flat" cmpd="sng">
            <a:solidFill>
              <a:srgbClr val="C8D8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>
                <a:solidFill>
                  <a:srgbClr val="878D91"/>
                </a:solidFill>
              </a:rPr>
              <a:t>팀명을</a:t>
            </a:r>
            <a:r>
              <a:rPr lang="en-US" sz="1100" dirty="0">
                <a:solidFill>
                  <a:srgbClr val="878D91"/>
                </a:solidFill>
              </a:rPr>
              <a:t> </a:t>
            </a:r>
            <a:r>
              <a:rPr lang="en-US" sz="1100" dirty="0" err="1">
                <a:solidFill>
                  <a:srgbClr val="878D91"/>
                </a:solidFill>
              </a:rPr>
              <a:t>입력해주세요</a:t>
            </a:r>
            <a:endParaRPr sz="1100" dirty="0">
              <a:solidFill>
                <a:srgbClr val="878D91"/>
              </a:solidFill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365750" y="4428054"/>
            <a:ext cx="85953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* 역할 구성 선택 시, 한 가지 또는 가능한 분야를 모두 선택해주세요.</a:t>
            </a:r>
            <a:endParaRPr sz="85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666666"/>
                </a:solidFill>
              </a:rPr>
              <a:t>* 꼭 전공이 아니어도 됩니다! 개발 전공자라도 디자이너로 참여하고 싶다면 디자이너를 선택해주세요.</a:t>
            </a:r>
            <a:endParaRPr sz="850">
              <a:solidFill>
                <a:srgbClr val="666666"/>
              </a:solidFill>
            </a:endParaRPr>
          </a:p>
        </p:txBody>
      </p:sp>
      <p:grpSp>
        <p:nvGrpSpPr>
          <p:cNvPr id="72" name="Google Shape;72;p6"/>
          <p:cNvGrpSpPr/>
          <p:nvPr/>
        </p:nvGrpSpPr>
        <p:grpSpPr>
          <a:xfrm>
            <a:off x="0" y="0"/>
            <a:ext cx="9144000" cy="658500"/>
            <a:chOff x="0" y="0"/>
            <a:chExt cx="9144000" cy="658500"/>
          </a:xfrm>
        </p:grpSpPr>
        <p:sp>
          <p:nvSpPr>
            <p:cNvPr id="73" name="Google Shape;73;p6"/>
            <p:cNvSpPr/>
            <p:nvPr/>
          </p:nvSpPr>
          <p:spPr>
            <a:xfrm>
              <a:off x="0" y="0"/>
              <a:ext cx="9144000" cy="658500"/>
            </a:xfrm>
            <a:prstGeom prst="rect">
              <a:avLst/>
            </a:prstGeom>
            <a:solidFill>
              <a:srgbClr val="FE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0" y="0"/>
              <a:ext cx="201300" cy="658500"/>
            </a:xfrm>
            <a:prstGeom prst="rect">
              <a:avLst/>
            </a:prstGeom>
            <a:solidFill>
              <a:srgbClr val="326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347472" y="0"/>
              <a:ext cx="64008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algun Gothic"/>
                <a:buNone/>
              </a:pPr>
              <a:r>
                <a:rPr lang="en-US" sz="1800" b="1">
                  <a:solidFill>
                    <a:srgbClr val="3264A5"/>
                  </a:solidFill>
                  <a:latin typeface="Asta Sans"/>
                  <a:ea typeface="Asta Sans"/>
                  <a:cs typeface="Asta Sans"/>
                  <a:sym typeface="Asta Sans"/>
                </a:rPr>
                <a:t>참가 신청 - 팀 신청</a:t>
              </a:r>
              <a:endParaRPr sz="1800" b="1" i="0" u="none" strike="noStrike" cap="none">
                <a:solidFill>
                  <a:srgbClr val="3264A5"/>
                </a:solidFill>
                <a:latin typeface="Asta Sans"/>
                <a:ea typeface="Asta Sans"/>
                <a:cs typeface="Asta Sans"/>
                <a:sym typeface="Asta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365760" y="80467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Malgun Gothic"/>
              <a:buNone/>
            </a:pP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신청하게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된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동기와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선정되어야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하는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이유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,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참여에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대한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포부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등을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자세히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서술해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 </a:t>
            </a:r>
            <a:r>
              <a:rPr lang="en-US" sz="1000" spc="-30" dirty="0" err="1">
                <a:solidFill>
                  <a:srgbClr val="878D91"/>
                </a:solidFill>
                <a:highlight>
                  <a:srgbClr val="FFFFFF"/>
                </a:highlight>
              </a:rPr>
              <a:t>주세요</a:t>
            </a:r>
            <a:r>
              <a:rPr lang="en-US" sz="1000" spc="-30" dirty="0">
                <a:solidFill>
                  <a:srgbClr val="878D91"/>
                </a:solidFill>
                <a:highlight>
                  <a:srgbClr val="FFFFFF"/>
                </a:highlight>
              </a:rPr>
              <a:t>.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endParaRPr sz="1050" i="0" u="none" strike="noStrike" cap="none" dirty="0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65750" y="1170425"/>
            <a:ext cx="8412600" cy="3589800"/>
          </a:xfrm>
          <a:prstGeom prst="rect">
            <a:avLst/>
          </a:prstGeom>
          <a:solidFill>
            <a:srgbClr val="F8FBFD"/>
          </a:solidFill>
          <a:ln w="12700" cap="flat" cmpd="sng">
            <a:solidFill>
              <a:srgbClr val="B0C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작년에 참가 </a:t>
            </a:r>
            <a:r>
              <a:rPr lang="ko-KR" altLang="en-US" dirty="0" err="1">
                <a:latin typeface="Asta Sans Medium"/>
                <a:ea typeface="Asta Sans Medium"/>
                <a:cs typeface="Asta Sans Medium"/>
                <a:sym typeface="Asta Sans Medium"/>
              </a:rPr>
              <a:t>했을때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 재미 있게 한 기억이 있어서 참여 하게 되었습니다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Asta Sans Medium"/>
              <a:ea typeface="Asta Sans Medium"/>
              <a:cs typeface="Asta Sans Medium"/>
              <a:sym typeface="Asta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이번에도 보람 있는 시간이 되도록 노력 하겠습니다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.</a:t>
            </a:r>
            <a:endParaRPr dirty="0"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grpSp>
        <p:nvGrpSpPr>
          <p:cNvPr id="84" name="Google Shape;84;p7"/>
          <p:cNvGrpSpPr/>
          <p:nvPr/>
        </p:nvGrpSpPr>
        <p:grpSpPr>
          <a:xfrm>
            <a:off x="0" y="0"/>
            <a:ext cx="9144000" cy="658500"/>
            <a:chOff x="0" y="0"/>
            <a:chExt cx="9144000" cy="658500"/>
          </a:xfrm>
        </p:grpSpPr>
        <p:sp>
          <p:nvSpPr>
            <p:cNvPr id="85" name="Google Shape;85;p7"/>
            <p:cNvSpPr/>
            <p:nvPr/>
          </p:nvSpPr>
          <p:spPr>
            <a:xfrm>
              <a:off x="0" y="0"/>
              <a:ext cx="9144000" cy="658500"/>
            </a:xfrm>
            <a:prstGeom prst="rect">
              <a:avLst/>
            </a:prstGeom>
            <a:solidFill>
              <a:srgbClr val="FE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0" y="0"/>
              <a:ext cx="201300" cy="658500"/>
            </a:xfrm>
            <a:prstGeom prst="rect">
              <a:avLst/>
            </a:prstGeom>
            <a:solidFill>
              <a:srgbClr val="326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347472" y="0"/>
              <a:ext cx="64008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algun Gothic"/>
                <a:buNone/>
              </a:pPr>
              <a:r>
                <a:rPr lang="en-US" sz="1800" b="1">
                  <a:solidFill>
                    <a:srgbClr val="3264A5"/>
                  </a:solidFill>
                  <a:latin typeface="Asta Sans"/>
                  <a:ea typeface="Asta Sans"/>
                  <a:cs typeface="Asta Sans"/>
                  <a:sym typeface="Asta Sans"/>
                </a:rPr>
                <a:t>Q1. ‘스마트 ICT 메이커톤' 참여 동기</a:t>
              </a:r>
              <a:endParaRPr sz="1800" b="1" i="0" u="none" strike="noStrike" cap="none">
                <a:solidFill>
                  <a:srgbClr val="3264A5"/>
                </a:solidFill>
                <a:latin typeface="Asta Sans"/>
                <a:ea typeface="Asta Sans"/>
                <a:cs typeface="Asta Sans"/>
                <a:sym typeface="Asta Sans"/>
              </a:endParaRPr>
            </a:p>
          </p:txBody>
        </p:sp>
      </p:grpSp>
      <p:grpSp>
        <p:nvGrpSpPr>
          <p:cNvPr id="88" name="Google Shape;88;p7"/>
          <p:cNvGrpSpPr/>
          <p:nvPr/>
        </p:nvGrpSpPr>
        <p:grpSpPr>
          <a:xfrm>
            <a:off x="0" y="4864608"/>
            <a:ext cx="9144000" cy="274200"/>
            <a:chOff x="0" y="4864608"/>
            <a:chExt cx="9144000" cy="274200"/>
          </a:xfrm>
        </p:grpSpPr>
        <p:sp>
          <p:nvSpPr>
            <p:cNvPr id="89" name="Google Shape;89;p7"/>
            <p:cNvSpPr/>
            <p:nvPr/>
          </p:nvSpPr>
          <p:spPr>
            <a:xfrm>
              <a:off x="0" y="4864608"/>
              <a:ext cx="9144000" cy="274200"/>
            </a:xfrm>
            <a:prstGeom prst="rect">
              <a:avLst/>
            </a:prstGeom>
            <a:solidFill>
              <a:srgbClr val="E8EEF4"/>
            </a:solidFill>
            <a:ln w="12700" cap="flat" cmpd="sng">
              <a:solidFill>
                <a:srgbClr val="E8EE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274320" y="4864608"/>
              <a:ext cx="731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 스마트 ICT 메이커톤</a:t>
              </a:r>
              <a:r>
                <a:rPr lang="en-US" sz="800" i="0" u="none" strike="noStrike" cap="none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 | </a:t>
              </a: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배재대학교 스마트ICT융합인재양성센터</a:t>
              </a:r>
              <a:endParaRPr sz="800" i="0" u="none" strike="noStrike" cap="none">
                <a:solidFill>
                  <a:srgbClr val="000000"/>
                </a:solidFill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365760" y="80467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Malgun Gothic"/>
              <a:buNone/>
            </a:pPr>
            <a:r>
              <a:rPr lang="en-US" sz="1000" spc="-30">
                <a:solidFill>
                  <a:srgbClr val="878D91"/>
                </a:solidFill>
                <a:highlight>
                  <a:srgbClr val="FFFFFF"/>
                </a:highlight>
              </a:rPr>
              <a:t>아이디어 목적과 내용을 자세히 서술해 주세요.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050" i="0" u="none" strike="noStrike" cap="none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365750" y="1170425"/>
            <a:ext cx="8412600" cy="3589800"/>
          </a:xfrm>
          <a:prstGeom prst="rect">
            <a:avLst/>
          </a:prstGeom>
          <a:solidFill>
            <a:srgbClr val="F8FBFD"/>
          </a:solidFill>
          <a:ln w="12700" cap="flat" cmpd="sng">
            <a:solidFill>
              <a:srgbClr val="B0C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sta Sans Medium"/>
                <a:ea typeface="Asta Sans Medium"/>
                <a:cs typeface="Asta Sans Medium"/>
                <a:sym typeface="Asta Sans Medium"/>
              </a:rPr>
              <a:t>AI 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에 의해서 제어가 되는 </a:t>
            </a:r>
            <a:r>
              <a:rPr lang="en-US" altLang="ko-KR" dirty="0" err="1">
                <a:latin typeface="Asta Sans Medium"/>
                <a:ea typeface="Asta Sans Medium"/>
                <a:cs typeface="Asta Sans Medium"/>
                <a:sym typeface="Asta Sans Medium"/>
              </a:rPr>
              <a:t>wifi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 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통신이 가능한 임베디드 장치를 만들고 싶습니다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Asta Sans Medium"/>
                <a:ea typeface="Asta Sans Medium"/>
                <a:cs typeface="Asta Sans Medium"/>
                <a:sym typeface="Asta Sans Medium"/>
              </a:rPr>
              <a:t>jev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 를 이용한 서버와 카메라와 마이크 스피커가 탑재된 장치로 주변을 파악하고 반응하는 반려 로봇을 만들 계획입니다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개인 참가라서 팀원들 의견을 들어 보고 결정을 </a:t>
            </a:r>
            <a:r>
              <a:rPr lang="ko-KR" altLang="en-US" dirty="0" err="1">
                <a:latin typeface="Asta Sans Medium"/>
                <a:ea typeface="Asta Sans Medium"/>
                <a:cs typeface="Asta Sans Medium"/>
                <a:sym typeface="Asta Sans Medium"/>
              </a:rPr>
              <a:t>하게되겠지만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,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 </a:t>
            </a:r>
            <a:endParaRPr lang="en-US" altLang="ko-KR" dirty="0">
              <a:latin typeface="Asta Sans Medium"/>
              <a:ea typeface="Asta Sans Medium"/>
              <a:cs typeface="Asta Sans Medium"/>
              <a:sym typeface="Asta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농담도 하고 재미 있는 </a:t>
            </a:r>
            <a:r>
              <a:rPr lang="ko-KR" altLang="en-US" dirty="0" err="1">
                <a:latin typeface="Asta Sans Medium"/>
                <a:ea typeface="Asta Sans Medium"/>
                <a:cs typeface="Asta Sans Medium"/>
                <a:sym typeface="Asta Sans Medium"/>
              </a:rPr>
              <a:t>제스쳐도</a:t>
            </a: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 취하는 귀여운 로봇이 만들고 싶습니다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. </a:t>
            </a:r>
            <a:endParaRPr dirty="0"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grpSp>
        <p:nvGrpSpPr>
          <p:cNvPr id="99" name="Google Shape;99;p8"/>
          <p:cNvGrpSpPr/>
          <p:nvPr/>
        </p:nvGrpSpPr>
        <p:grpSpPr>
          <a:xfrm>
            <a:off x="0" y="0"/>
            <a:ext cx="9144000" cy="658500"/>
            <a:chOff x="0" y="0"/>
            <a:chExt cx="9144000" cy="658500"/>
          </a:xfrm>
        </p:grpSpPr>
        <p:sp>
          <p:nvSpPr>
            <p:cNvPr id="100" name="Google Shape;100;p8"/>
            <p:cNvSpPr/>
            <p:nvPr/>
          </p:nvSpPr>
          <p:spPr>
            <a:xfrm>
              <a:off x="0" y="0"/>
              <a:ext cx="9144000" cy="658500"/>
            </a:xfrm>
            <a:prstGeom prst="rect">
              <a:avLst/>
            </a:prstGeom>
            <a:solidFill>
              <a:srgbClr val="FE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0" y="0"/>
              <a:ext cx="201300" cy="658500"/>
            </a:xfrm>
            <a:prstGeom prst="rect">
              <a:avLst/>
            </a:prstGeom>
            <a:solidFill>
              <a:srgbClr val="326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347472" y="0"/>
              <a:ext cx="64008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algun Gothic"/>
                <a:buNone/>
              </a:pPr>
              <a:r>
                <a:rPr lang="en-US" sz="1800" b="1">
                  <a:solidFill>
                    <a:srgbClr val="3264A5"/>
                  </a:solidFill>
                  <a:latin typeface="Asta Sans"/>
                  <a:ea typeface="Asta Sans"/>
                  <a:cs typeface="Asta Sans"/>
                  <a:sym typeface="Asta Sans"/>
                </a:rPr>
                <a:t>Q2. '스마트 ICT 메이커톤' 에서 제작하고자 하는 아이디어 (2장 이내)</a:t>
              </a:r>
              <a:endParaRPr sz="1800" b="1" i="0" u="none" strike="noStrike" cap="none">
                <a:solidFill>
                  <a:srgbClr val="3264A5"/>
                </a:solidFill>
                <a:latin typeface="Asta Sans"/>
                <a:ea typeface="Asta Sans"/>
                <a:cs typeface="Asta Sans"/>
                <a:sym typeface="Asta Sans"/>
              </a:endParaRPr>
            </a:p>
          </p:txBody>
        </p:sp>
      </p:grpSp>
      <p:grpSp>
        <p:nvGrpSpPr>
          <p:cNvPr id="103" name="Google Shape;103;p8"/>
          <p:cNvGrpSpPr/>
          <p:nvPr/>
        </p:nvGrpSpPr>
        <p:grpSpPr>
          <a:xfrm>
            <a:off x="0" y="4864608"/>
            <a:ext cx="9144000" cy="274200"/>
            <a:chOff x="0" y="4864608"/>
            <a:chExt cx="9144000" cy="274200"/>
          </a:xfrm>
        </p:grpSpPr>
        <p:sp>
          <p:nvSpPr>
            <p:cNvPr id="104" name="Google Shape;104;p8"/>
            <p:cNvSpPr/>
            <p:nvPr/>
          </p:nvSpPr>
          <p:spPr>
            <a:xfrm>
              <a:off x="0" y="4864608"/>
              <a:ext cx="9144000" cy="274200"/>
            </a:xfrm>
            <a:prstGeom prst="rect">
              <a:avLst/>
            </a:prstGeom>
            <a:solidFill>
              <a:srgbClr val="E8EEF4"/>
            </a:solidFill>
            <a:ln w="12700" cap="flat" cmpd="sng">
              <a:solidFill>
                <a:srgbClr val="E8EE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274320" y="4864608"/>
              <a:ext cx="731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 스마트 ICT 메이커톤</a:t>
              </a:r>
              <a:r>
                <a:rPr lang="en-US" sz="800" i="0" u="none" strike="noStrike" cap="none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 | </a:t>
              </a: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배재대학교 스마트ICT융합인재양성센터</a:t>
              </a:r>
              <a:endParaRPr sz="800" i="0" u="none" strike="noStrike" cap="none">
                <a:solidFill>
                  <a:srgbClr val="000000"/>
                </a:solidFill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365750" y="1170425"/>
            <a:ext cx="8412600" cy="3589800"/>
          </a:xfrm>
          <a:prstGeom prst="rect">
            <a:avLst/>
          </a:prstGeom>
          <a:solidFill>
            <a:srgbClr val="F8FBFD"/>
          </a:solidFill>
          <a:ln w="12700" cap="flat" cmpd="sng">
            <a:solidFill>
              <a:srgbClr val="B0C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Asta Sans Medium"/>
                <a:ea typeface="Asta Sans Medium"/>
                <a:cs typeface="Asta Sans Medium"/>
                <a:sym typeface="Asta Sans Medium"/>
              </a:rPr>
              <a:t>이번에 개인 참가라서 좋은 인연이 될 수 있는 팀원을 만나고 싶습니다</a:t>
            </a:r>
            <a:r>
              <a:rPr lang="en-US" altLang="ko-KR" dirty="0">
                <a:latin typeface="Asta Sans Medium"/>
                <a:ea typeface="Asta Sans Medium"/>
                <a:cs typeface="Asta Sans Medium"/>
                <a:sym typeface="Asta Sans Medium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grpSp>
        <p:nvGrpSpPr>
          <p:cNvPr id="113" name="Google Shape;113;p9"/>
          <p:cNvGrpSpPr/>
          <p:nvPr/>
        </p:nvGrpSpPr>
        <p:grpSpPr>
          <a:xfrm>
            <a:off x="0" y="0"/>
            <a:ext cx="9144000" cy="658500"/>
            <a:chOff x="0" y="0"/>
            <a:chExt cx="9144000" cy="658500"/>
          </a:xfrm>
        </p:grpSpPr>
        <p:sp>
          <p:nvSpPr>
            <p:cNvPr id="114" name="Google Shape;114;p9"/>
            <p:cNvSpPr/>
            <p:nvPr/>
          </p:nvSpPr>
          <p:spPr>
            <a:xfrm>
              <a:off x="0" y="0"/>
              <a:ext cx="9144000" cy="658500"/>
            </a:xfrm>
            <a:prstGeom prst="rect">
              <a:avLst/>
            </a:prstGeom>
            <a:solidFill>
              <a:srgbClr val="FEF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115" name="Google Shape;115;p9"/>
            <p:cNvSpPr/>
            <p:nvPr/>
          </p:nvSpPr>
          <p:spPr>
            <a:xfrm>
              <a:off x="0" y="0"/>
              <a:ext cx="201300" cy="658500"/>
            </a:xfrm>
            <a:prstGeom prst="rect">
              <a:avLst/>
            </a:prstGeom>
            <a:solidFill>
              <a:srgbClr val="326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347476" y="0"/>
              <a:ext cx="87306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algun Gothic"/>
                <a:buNone/>
              </a:pPr>
              <a:r>
                <a:rPr lang="en-US" sz="1800" b="1">
                  <a:solidFill>
                    <a:srgbClr val="3264A5"/>
                  </a:solidFill>
                  <a:latin typeface="Asta Sans"/>
                  <a:ea typeface="Asta Sans"/>
                  <a:cs typeface="Asta Sans"/>
                  <a:sym typeface="Asta Sans"/>
                </a:rPr>
                <a:t>Q3. </a:t>
              </a:r>
              <a:r>
                <a:rPr lang="en-US" sz="1700" b="1">
                  <a:solidFill>
                    <a:srgbClr val="3264A5"/>
                  </a:solidFill>
                  <a:latin typeface="Asta Sans"/>
                  <a:ea typeface="Asta Sans"/>
                  <a:cs typeface="Asta Sans"/>
                  <a:sym typeface="Asta Sans"/>
                </a:rPr>
                <a:t>스마트 ICT 메이커톤'에 참여하여 가장 기대하고 있는 점</a:t>
              </a:r>
              <a:endParaRPr sz="1700" b="1" i="0" u="none" strike="noStrike" cap="none">
                <a:solidFill>
                  <a:srgbClr val="3264A5"/>
                </a:solidFill>
                <a:latin typeface="Asta Sans"/>
                <a:ea typeface="Asta Sans"/>
                <a:cs typeface="Asta Sans"/>
                <a:sym typeface="Asta Sans"/>
              </a:endParaRPr>
            </a:p>
          </p:txBody>
        </p:sp>
      </p:grpSp>
      <p:sp>
        <p:nvSpPr>
          <p:cNvPr id="117" name="Google Shape;117;p9"/>
          <p:cNvSpPr/>
          <p:nvPr/>
        </p:nvSpPr>
        <p:spPr>
          <a:xfrm>
            <a:off x="365760" y="804672"/>
            <a:ext cx="8412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Malgun Gothic"/>
              <a:buNone/>
            </a:pPr>
            <a:r>
              <a:rPr lang="en-US" sz="1000" spc="-30">
                <a:solidFill>
                  <a:srgbClr val="878D91"/>
                </a:solidFill>
                <a:highlight>
                  <a:srgbClr val="FFFFFF"/>
                </a:highlight>
              </a:rPr>
              <a:t>대회와 관련하여 관심 또는 흥미를 가지고 있는 분야를 자유롭게 서술해주세요.</a:t>
            </a:r>
            <a:endParaRPr sz="1050" i="0" u="none" strike="noStrike" cap="none">
              <a:solidFill>
                <a:srgbClr val="000000"/>
              </a:solidFill>
              <a:latin typeface="Asta Sans Medium"/>
              <a:ea typeface="Asta Sans Medium"/>
              <a:cs typeface="Asta Sans Medium"/>
              <a:sym typeface="Asta Sans Medium"/>
            </a:endParaRPr>
          </a:p>
        </p:txBody>
      </p:sp>
      <p:grpSp>
        <p:nvGrpSpPr>
          <p:cNvPr id="118" name="Google Shape;118;p9"/>
          <p:cNvGrpSpPr/>
          <p:nvPr/>
        </p:nvGrpSpPr>
        <p:grpSpPr>
          <a:xfrm>
            <a:off x="0" y="4864608"/>
            <a:ext cx="9144000" cy="274200"/>
            <a:chOff x="0" y="4864608"/>
            <a:chExt cx="9144000" cy="274200"/>
          </a:xfrm>
        </p:grpSpPr>
        <p:sp>
          <p:nvSpPr>
            <p:cNvPr id="119" name="Google Shape;119;p9"/>
            <p:cNvSpPr/>
            <p:nvPr/>
          </p:nvSpPr>
          <p:spPr>
            <a:xfrm>
              <a:off x="0" y="4864608"/>
              <a:ext cx="9144000" cy="274200"/>
            </a:xfrm>
            <a:prstGeom prst="rect">
              <a:avLst/>
            </a:prstGeom>
            <a:solidFill>
              <a:srgbClr val="E8EEF4"/>
            </a:solidFill>
            <a:ln w="12700" cap="flat" cmpd="sng">
              <a:solidFill>
                <a:srgbClr val="E8EE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274320" y="4864608"/>
              <a:ext cx="7315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 스마트 ICT 메이커톤</a:t>
              </a:r>
              <a:r>
                <a:rPr lang="en-US" sz="800" i="0" u="none" strike="noStrike" cap="none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 | </a:t>
              </a:r>
              <a:r>
                <a:rPr lang="en-US" sz="800">
                  <a:solidFill>
                    <a:srgbClr val="4A5568"/>
                  </a:solidFill>
                  <a:latin typeface="Asta Sans Medium"/>
                  <a:ea typeface="Asta Sans Medium"/>
                  <a:cs typeface="Asta Sans Medium"/>
                  <a:sym typeface="Asta Sans Medium"/>
                </a:rPr>
                <a:t>배재대학교 스마트ICT융합인재양성센터</a:t>
              </a:r>
              <a:endParaRPr sz="800" i="0" u="none" strike="noStrike" cap="none">
                <a:solidFill>
                  <a:srgbClr val="000000"/>
                </a:solidFill>
                <a:latin typeface="Asta Sans Medium"/>
                <a:ea typeface="Asta Sans Medium"/>
                <a:cs typeface="Asta Sans Medium"/>
                <a:sym typeface="Asta Sans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476</Words>
  <Application>Microsoft Office PowerPoint</Application>
  <PresentationFormat>화면 슬라이드 쇼(16:9)</PresentationFormat>
  <Paragraphs>91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Asta Sans</vt:lpstr>
      <vt:lpstr>Asta Sans Medium</vt:lpstr>
      <vt:lpstr>Malgun Gothic</vt:lpstr>
      <vt:lpstr>Arial</vt:lpstr>
      <vt:lpstr>Calibri</vt:lpstr>
      <vt:lpstr>Wingdings 2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Sugil Choi</cp:lastModifiedBy>
  <cp:revision>2</cp:revision>
  <dcterms:modified xsi:type="dcterms:W3CDTF">2026-09-29T08:22:33Z</dcterms:modified>
  <cp:version/>
</cp:coreProperties>
</file>